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643814"/>
            <a:ext cx="3020838" cy="876278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9110" y="4955853"/>
            <a:ext cx="1529320" cy="400486"/>
          </a:xfrm>
          <a:prstGeom prst="roundRect">
            <a:avLst>
              <a:gd name="adj" fmla="val 50000"/>
            </a:avLst>
          </a:prstGeom>
          <a:solidFill>
            <a:srgbClr val="7F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224627" y="4955853"/>
            <a:ext cx="2071785" cy="400486"/>
          </a:xfrm>
          <a:prstGeom prst="roundRect">
            <a:avLst>
              <a:gd name="adj" fmla="val 50000"/>
            </a:avLst>
          </a:prstGeom>
          <a:solidFill>
            <a:srgbClr val="7FA6FF"/>
          </a:solidFill>
          <a:ln/>
        </p:spPr>
      </p:sp>
      <p:sp>
        <p:nvSpPr>
          <p:cNvPr id="5" name="Shape 3"/>
          <p:cNvSpPr/>
          <p:nvPr/>
        </p:nvSpPr>
        <p:spPr>
          <a:xfrm>
            <a:off x="4372610" y="4955853"/>
            <a:ext cx="635331" cy="400486"/>
          </a:xfrm>
          <a:prstGeom prst="roundRect">
            <a:avLst>
              <a:gd name="adj" fmla="val 50000"/>
            </a:avLst>
          </a:prstGeom>
          <a:solidFill>
            <a:srgbClr val="7FA6FF"/>
          </a:solidFill>
          <a:ln/>
        </p:spPr>
      </p:sp>
      <p:sp>
        <p:nvSpPr>
          <p:cNvPr id="6" name="Shape 4"/>
          <p:cNvSpPr/>
          <p:nvPr/>
        </p:nvSpPr>
        <p:spPr>
          <a:xfrm>
            <a:off x="619110" y="5432537"/>
            <a:ext cx="2064641" cy="400486"/>
          </a:xfrm>
          <a:prstGeom prst="roundRect">
            <a:avLst>
              <a:gd name="adj" fmla="val 50000"/>
            </a:avLst>
          </a:prstGeom>
          <a:solidFill>
            <a:srgbClr val="7FA6FF"/>
          </a:solidFill>
          <a:ln/>
        </p:spPr>
      </p:sp>
      <p:sp>
        <p:nvSpPr>
          <p:cNvPr id="7" name="Shape 5"/>
          <p:cNvSpPr/>
          <p:nvPr/>
        </p:nvSpPr>
        <p:spPr>
          <a:xfrm>
            <a:off x="2759949" y="5432537"/>
            <a:ext cx="996826" cy="400486"/>
          </a:xfrm>
          <a:prstGeom prst="roundRect">
            <a:avLst>
              <a:gd name="adj" fmla="val 50000"/>
            </a:avLst>
          </a:prstGeom>
          <a:solidFill>
            <a:srgbClr val="7FA6FF"/>
          </a:solidFill>
          <a:ln/>
        </p:spPr>
      </p:sp>
      <p:sp>
        <p:nvSpPr>
          <p:cNvPr id="8" name="Shape 6"/>
          <p:cNvSpPr/>
          <p:nvPr/>
        </p:nvSpPr>
        <p:spPr>
          <a:xfrm>
            <a:off x="3832973" y="5432537"/>
            <a:ext cx="1373500" cy="400486"/>
          </a:xfrm>
          <a:prstGeom prst="roundRect">
            <a:avLst>
              <a:gd name="adj" fmla="val 50000"/>
            </a:avLst>
          </a:prstGeom>
          <a:solidFill>
            <a:srgbClr val="7FA6FF"/>
          </a:solidFill>
          <a:ln/>
        </p:spPr>
      </p:sp>
      <p:sp>
        <p:nvSpPr>
          <p:cNvPr id="9" name="Shape 7"/>
          <p:cNvSpPr/>
          <p:nvPr/>
        </p:nvSpPr>
        <p:spPr>
          <a:xfrm>
            <a:off x="7734107" y="931045"/>
            <a:ext cx="3581310" cy="3581310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110" y="6079775"/>
            <a:ext cx="10953476" cy="9525"/>
          </a:xfrm>
          <a:prstGeom prst="rect">
            <a:avLst/>
          </a:prstGeom>
          <a:solidFill>
            <a:srgbClr val="1B337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805735"/>
            <a:ext cx="552436" cy="552436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840" y="786686"/>
            <a:ext cx="1508038" cy="59053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176" y="1150115"/>
            <a:ext cx="3143171" cy="3143171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346" y="2369285"/>
            <a:ext cx="704832" cy="704832"/>
          </a:xfrm>
          <a:prstGeom prst="ellipse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10" y="6292593"/>
            <a:ext cx="180970" cy="18097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066" y="6292593"/>
            <a:ext cx="180970" cy="18097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412" y="6292593"/>
            <a:ext cx="180970" cy="18097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712" y="6292593"/>
            <a:ext cx="180970" cy="18097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581110" y="934766"/>
            <a:ext cx="253860" cy="27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7"/>
              </a:lnSpc>
              <a:buNone/>
            </a:pPr>
            <a:r>
              <a:rPr lang="en-US" sz="1950" b="1" dirty="0">
                <a:solidFill>
                  <a:srgbClr val="8A90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1950" dirty="0"/>
          </a:p>
        </p:txBody>
      </p:sp>
      <p:sp>
        <p:nvSpPr>
          <p:cNvPr id="20" name="Text 10"/>
          <p:cNvSpPr txBox="1"/>
          <p:nvPr/>
        </p:nvSpPr>
        <p:spPr>
          <a:xfrm>
            <a:off x="619110" y="1758212"/>
            <a:ext cx="2982302" cy="102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350" b="1" spc="150" kern="0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7350" dirty="0"/>
          </a:p>
        </p:txBody>
      </p:sp>
      <p:sp>
        <p:nvSpPr>
          <p:cNvPr id="21" name="Text 11"/>
          <p:cNvSpPr txBox="1"/>
          <p:nvPr/>
        </p:nvSpPr>
        <p:spPr>
          <a:xfrm>
            <a:off x="619110" y="2844034"/>
            <a:ext cx="5479523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1"/>
              </a:lnSpc>
              <a:buNone/>
            </a:pPr>
            <a:r>
              <a:rPr lang="en-US" sz="202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&amp; Multimodal Systems</a:t>
            </a:r>
            <a:endParaRPr lang="en-US" sz="2025" dirty="0"/>
          </a:p>
        </p:txBody>
      </p:sp>
      <p:sp>
        <p:nvSpPr>
          <p:cNvPr id="22" name="Text 12"/>
          <p:cNvSpPr txBox="1"/>
          <p:nvPr/>
        </p:nvSpPr>
        <p:spPr>
          <a:xfrm>
            <a:off x="619110" y="3525501"/>
            <a:ext cx="7314915" cy="1159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232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research group building AI systems that learn from</a:t>
            </a:r>
            <a:endParaRPr lang="en-US" sz="2325" dirty="0"/>
          </a:p>
          <a:p>
            <a:pPr algn="l" indent="0" marL="0">
              <a:lnSpc>
                <a:spcPts val="3255"/>
              </a:lnSpc>
              <a:buNone/>
            </a:pPr>
            <a:r>
              <a:rPr lang="en-US" sz="232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images, video, text, speech and sensor data, and stay</a:t>
            </a:r>
            <a:endParaRPr lang="en-US" sz="2325" dirty="0"/>
          </a:p>
          <a:p>
            <a:pPr algn="l" indent="0" marL="0">
              <a:lnSpc>
                <a:spcPts val="3255"/>
              </a:lnSpc>
              <a:buNone/>
            </a:pPr>
            <a:r>
              <a:rPr lang="en-US" sz="232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reliable under uncertainty. </a:t>
            </a:r>
            <a:endParaRPr lang="en-US" sz="2325" dirty="0"/>
          </a:p>
        </p:txBody>
      </p:sp>
      <p:sp>
        <p:nvSpPr>
          <p:cNvPr id="23" name="Text 13"/>
          <p:cNvSpPr txBox="1"/>
          <p:nvPr/>
        </p:nvSpPr>
        <p:spPr>
          <a:xfrm>
            <a:off x="771506" y="5060625"/>
            <a:ext cx="149964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041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ComputerVision</a:t>
            </a:r>
            <a:endParaRPr lang="en-US" sz="1275" dirty="0"/>
          </a:p>
        </p:txBody>
      </p:sp>
      <p:sp>
        <p:nvSpPr>
          <p:cNvPr id="24" name="Text 14"/>
          <p:cNvSpPr txBox="1"/>
          <p:nvPr/>
        </p:nvSpPr>
        <p:spPr>
          <a:xfrm>
            <a:off x="2377023" y="5060625"/>
            <a:ext cx="212348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041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VisionLanguageModels</a:t>
            </a:r>
            <a:endParaRPr lang="en-US" sz="1275" dirty="0"/>
          </a:p>
        </p:txBody>
      </p:sp>
      <p:sp>
        <p:nvSpPr>
          <p:cNvPr id="25" name="Text 15"/>
          <p:cNvSpPr txBox="1"/>
          <p:nvPr/>
        </p:nvSpPr>
        <p:spPr>
          <a:xfrm>
            <a:off x="4525006" y="5060625"/>
            <a:ext cx="47156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041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75" dirty="0"/>
          </a:p>
        </p:txBody>
      </p:sp>
      <p:sp>
        <p:nvSpPr>
          <p:cNvPr id="26" name="Text 16"/>
          <p:cNvSpPr txBox="1"/>
          <p:nvPr/>
        </p:nvSpPr>
        <p:spPr>
          <a:xfrm>
            <a:off x="771506" y="5537310"/>
            <a:ext cx="211526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041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ConversationalMemory</a:t>
            </a:r>
            <a:endParaRPr lang="en-US" sz="1275" dirty="0"/>
          </a:p>
        </p:txBody>
      </p:sp>
      <p:sp>
        <p:nvSpPr>
          <p:cNvPr id="27" name="Text 17"/>
          <p:cNvSpPr txBox="1"/>
          <p:nvPr/>
        </p:nvSpPr>
        <p:spPr>
          <a:xfrm>
            <a:off x="2912345" y="5537310"/>
            <a:ext cx="88727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041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AIAgents</a:t>
            </a:r>
            <a:endParaRPr lang="en-US" sz="1275" dirty="0"/>
          </a:p>
        </p:txBody>
      </p:sp>
      <p:sp>
        <p:nvSpPr>
          <p:cNvPr id="28" name="Text 18"/>
          <p:cNvSpPr txBox="1"/>
          <p:nvPr/>
        </p:nvSpPr>
        <p:spPr>
          <a:xfrm>
            <a:off x="3985369" y="5537310"/>
            <a:ext cx="132045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041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TrustworthyAI</a:t>
            </a:r>
            <a:endParaRPr lang="en-US" sz="1275" dirty="0"/>
          </a:p>
        </p:txBody>
      </p:sp>
      <p:sp>
        <p:nvSpPr>
          <p:cNvPr id="29" name="Text 19"/>
          <p:cNvSpPr txBox="1"/>
          <p:nvPr/>
        </p:nvSpPr>
        <p:spPr>
          <a:xfrm>
            <a:off x="7723930" y="4750475"/>
            <a:ext cx="3601516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50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papers, projects and people</a:t>
            </a:r>
            <a:endParaRPr lang="en-US" sz="1500" dirty="0"/>
          </a:p>
        </p:txBody>
      </p:sp>
      <p:sp>
        <p:nvSpPr>
          <p:cNvPr id="30" name="Text 20"/>
          <p:cNvSpPr txBox="1"/>
          <p:nvPr/>
        </p:nvSpPr>
        <p:spPr>
          <a:xfrm>
            <a:off x="8002034" y="5150515"/>
            <a:ext cx="3045456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13"/>
              </a:lnSpc>
              <a:buNone/>
            </a:pPr>
            <a:r>
              <a:rPr lang="en-US" sz="2250" b="1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aimsresearchlab.com</a:t>
            </a:r>
            <a:endParaRPr lang="en-US" sz="2250" dirty="0"/>
          </a:p>
        </p:txBody>
      </p:sp>
      <p:sp>
        <p:nvSpPr>
          <p:cNvPr id="31" name="Text 21"/>
          <p:cNvSpPr txBox="1"/>
          <p:nvPr/>
        </p:nvSpPr>
        <p:spPr>
          <a:xfrm>
            <a:off x="876278" y="6279795"/>
            <a:ext cx="2065119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aimsresearchlab.com</a:t>
            </a:r>
            <a:endParaRPr lang="en-US" sz="1350" dirty="0"/>
          </a:p>
        </p:txBody>
      </p:sp>
      <p:sp>
        <p:nvSpPr>
          <p:cNvPr id="32" name="Text 22"/>
          <p:cNvSpPr txBox="1"/>
          <p:nvPr/>
        </p:nvSpPr>
        <p:spPr>
          <a:xfrm>
            <a:off x="3059234" y="6279795"/>
            <a:ext cx="2576168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github.com/aimsresearchlab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5686580" y="6279795"/>
            <a:ext cx="238636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 340, Hattiesburg, MS</a:t>
            </a:r>
            <a:endParaRPr lang="en-US" sz="1350" dirty="0"/>
          </a:p>
        </p:txBody>
      </p:sp>
      <p:sp>
        <p:nvSpPr>
          <p:cNvPr id="34" name="Text 24"/>
          <p:cNvSpPr txBox="1"/>
          <p:nvPr/>
        </p:nvSpPr>
        <p:spPr>
          <a:xfrm>
            <a:off x="8148880" y="6279795"/>
            <a:ext cx="3088585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by Dr. Rabab Abdelfattah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723684"/>
            <a:ext cx="10953476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3" name="Shape 1"/>
          <p:cNvSpPr/>
          <p:nvPr/>
        </p:nvSpPr>
        <p:spPr>
          <a:xfrm>
            <a:off x="619110" y="2057051"/>
            <a:ext cx="2022970" cy="4257866"/>
          </a:xfrm>
          <a:prstGeom prst="rect">
            <a:avLst/>
          </a:prstGeom>
          <a:solidFill>
            <a:srgbClr val="0A2596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51624" y="2057051"/>
            <a:ext cx="2023119" cy="4257866"/>
          </a:xfrm>
          <a:prstGeom prst="rect">
            <a:avLst/>
          </a:prstGeom>
          <a:solidFill>
            <a:srgbClr val="0A2596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84288" y="2057051"/>
            <a:ext cx="2022970" cy="4257866"/>
          </a:xfrm>
          <a:prstGeom prst="rect">
            <a:avLst/>
          </a:prstGeom>
          <a:solidFill>
            <a:srgbClr val="0A2596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6803" y="2057051"/>
            <a:ext cx="2023119" cy="4257866"/>
          </a:xfrm>
          <a:prstGeom prst="rect">
            <a:avLst/>
          </a:prstGeom>
          <a:solidFill>
            <a:srgbClr val="0A2596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49467" y="2057051"/>
            <a:ext cx="2022970" cy="4257866"/>
          </a:xfrm>
          <a:prstGeom prst="rect">
            <a:avLst/>
          </a:prstGeom>
          <a:solidFill>
            <a:srgbClr val="0A2596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1981" y="4743331"/>
            <a:ext cx="380990" cy="380990"/>
          </a:xfrm>
          <a:prstGeom prst="ellipse">
            <a:avLst/>
          </a:prstGeom>
          <a:solidFill>
            <a:srgbClr val="7FA6FF"/>
          </a:solidFill>
          <a:ln/>
        </p:spPr>
      </p:sp>
      <p:sp>
        <p:nvSpPr>
          <p:cNvPr id="9" name="Shape 7"/>
          <p:cNvSpPr/>
          <p:nvPr/>
        </p:nvSpPr>
        <p:spPr>
          <a:xfrm>
            <a:off x="2994496" y="4743331"/>
            <a:ext cx="380990" cy="380990"/>
          </a:xfrm>
          <a:prstGeom prst="ellipse">
            <a:avLst/>
          </a:prstGeom>
          <a:solidFill>
            <a:srgbClr val="7FA6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27160" y="4743331"/>
            <a:ext cx="380990" cy="380990"/>
          </a:xfrm>
          <a:prstGeom prst="ellipse">
            <a:avLst/>
          </a:prstGeom>
          <a:solidFill>
            <a:srgbClr val="7FA6FF"/>
          </a:solidFill>
          <a:ln/>
        </p:spPr>
      </p:sp>
      <p:sp>
        <p:nvSpPr>
          <p:cNvPr id="11" name="Shape 9"/>
          <p:cNvSpPr/>
          <p:nvPr/>
        </p:nvSpPr>
        <p:spPr>
          <a:xfrm>
            <a:off x="7459674" y="4743331"/>
            <a:ext cx="380990" cy="380990"/>
          </a:xfrm>
          <a:prstGeom prst="ellipse">
            <a:avLst/>
          </a:prstGeom>
          <a:solidFill>
            <a:srgbClr val="7FA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338" y="4743331"/>
            <a:ext cx="380990" cy="380990"/>
          </a:xfrm>
          <a:prstGeom prst="ellipse">
            <a:avLst/>
          </a:prstGeom>
          <a:solidFill>
            <a:srgbClr val="7FA6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34" y="2066576"/>
            <a:ext cx="2003921" cy="28863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4" y="4829054"/>
            <a:ext cx="209545" cy="209545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149" y="2066576"/>
            <a:ext cx="2004069" cy="288630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0219" y="4829054"/>
            <a:ext cx="209545" cy="209545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813" y="2066576"/>
            <a:ext cx="2003921" cy="288630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882" y="4829054"/>
            <a:ext cx="209545" cy="209545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6328" y="2066576"/>
            <a:ext cx="2004069" cy="2886300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5397" y="4829054"/>
            <a:ext cx="209545" cy="20954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8991" y="2066576"/>
            <a:ext cx="2003921" cy="2886300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8061" y="4829054"/>
            <a:ext cx="209545" cy="209545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25" name="Text 12"/>
          <p:cNvSpPr txBox="1"/>
          <p:nvPr/>
        </p:nvSpPr>
        <p:spPr>
          <a:xfrm>
            <a:off x="619110" y="542911"/>
            <a:ext cx="1599597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425" dirty="0"/>
          </a:p>
        </p:txBody>
      </p:sp>
      <p:sp>
        <p:nvSpPr>
          <p:cNvPr id="26" name="Text 13"/>
          <p:cNvSpPr txBox="1"/>
          <p:nvPr/>
        </p:nvSpPr>
        <p:spPr>
          <a:xfrm>
            <a:off x="619110" y="879552"/>
            <a:ext cx="4908745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lines of work</a:t>
            </a:r>
            <a:endParaRPr lang="en-US" sz="4350" dirty="0"/>
          </a:p>
        </p:txBody>
      </p:sp>
      <p:sp>
        <p:nvSpPr>
          <p:cNvPr id="27" name="Text 14"/>
          <p:cNvSpPr txBox="1"/>
          <p:nvPr/>
        </p:nvSpPr>
        <p:spPr>
          <a:xfrm>
            <a:off x="7231229" y="1008881"/>
            <a:ext cx="573393" cy="4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3300" dirty="0"/>
          </a:p>
        </p:txBody>
      </p:sp>
      <p:sp>
        <p:nvSpPr>
          <p:cNvPr id="28" name="Text 15"/>
          <p:cNvSpPr txBox="1"/>
          <p:nvPr/>
        </p:nvSpPr>
        <p:spPr>
          <a:xfrm>
            <a:off x="7726517" y="1227950"/>
            <a:ext cx="107554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</a:t>
            </a:r>
            <a:endParaRPr lang="en-US" sz="1275" dirty="0"/>
          </a:p>
        </p:txBody>
      </p:sp>
      <p:sp>
        <p:nvSpPr>
          <p:cNvPr id="29" name="Text 16"/>
          <p:cNvSpPr txBox="1"/>
          <p:nvPr/>
        </p:nvSpPr>
        <p:spPr>
          <a:xfrm>
            <a:off x="8906099" y="1008881"/>
            <a:ext cx="573393" cy="4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3300" dirty="0"/>
          </a:p>
        </p:txBody>
      </p:sp>
      <p:sp>
        <p:nvSpPr>
          <p:cNvPr id="30" name="Text 17"/>
          <p:cNvSpPr txBox="1"/>
          <p:nvPr/>
        </p:nvSpPr>
        <p:spPr>
          <a:xfrm>
            <a:off x="9401386" y="1227950"/>
            <a:ext cx="66615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</a:t>
            </a:r>
            <a:endParaRPr lang="en-US" sz="1275" dirty="0"/>
          </a:p>
        </p:txBody>
      </p:sp>
      <p:sp>
        <p:nvSpPr>
          <p:cNvPr id="31" name="Text 18"/>
          <p:cNvSpPr txBox="1"/>
          <p:nvPr/>
        </p:nvSpPr>
        <p:spPr>
          <a:xfrm>
            <a:off x="10224981" y="1008881"/>
            <a:ext cx="332416" cy="4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3300" dirty="0"/>
          </a:p>
        </p:txBody>
      </p:sp>
      <p:sp>
        <p:nvSpPr>
          <p:cNvPr id="32" name="Text 19"/>
          <p:cNvSpPr txBox="1"/>
          <p:nvPr/>
        </p:nvSpPr>
        <p:spPr>
          <a:xfrm>
            <a:off x="10510724" y="1227950"/>
            <a:ext cx="131258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projects</a:t>
            </a:r>
            <a:endParaRPr lang="en-US" sz="1275" dirty="0"/>
          </a:p>
        </p:txBody>
      </p:sp>
      <p:sp>
        <p:nvSpPr>
          <p:cNvPr id="33" name="Text 20"/>
          <p:cNvSpPr txBox="1"/>
          <p:nvPr/>
        </p:nvSpPr>
        <p:spPr>
          <a:xfrm>
            <a:off x="781030" y="5200520"/>
            <a:ext cx="1847761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Vision</a:t>
            </a:r>
            <a:endParaRPr lang="en-US" sz="1650" dirty="0"/>
          </a:p>
        </p:txBody>
      </p:sp>
      <p:sp>
        <p:nvSpPr>
          <p:cNvPr id="34" name="Text 21"/>
          <p:cNvSpPr txBox="1"/>
          <p:nvPr/>
        </p:nvSpPr>
        <p:spPr>
          <a:xfrm>
            <a:off x="781030" y="5517665"/>
            <a:ext cx="1984680" cy="36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Seeing and interpreting the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world.</a:t>
            </a:r>
            <a:endParaRPr lang="en-US" sz="1200" dirty="0"/>
          </a:p>
        </p:txBody>
      </p:sp>
      <p:sp>
        <p:nvSpPr>
          <p:cNvPr id="35" name="Text 22"/>
          <p:cNvSpPr txBox="1"/>
          <p:nvPr/>
        </p:nvSpPr>
        <p:spPr>
          <a:xfrm>
            <a:off x="3013545" y="5200520"/>
            <a:ext cx="1370258" cy="479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 &amp;</a:t>
            </a:r>
            <a:endParaRPr lang="en-US" sz="16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Agents</a:t>
            </a:r>
            <a:endParaRPr lang="en-US" sz="1650" dirty="0"/>
          </a:p>
        </p:txBody>
      </p:sp>
      <p:sp>
        <p:nvSpPr>
          <p:cNvPr id="36" name="Text 23"/>
          <p:cNvSpPr txBox="1"/>
          <p:nvPr/>
        </p:nvSpPr>
        <p:spPr>
          <a:xfrm>
            <a:off x="3013545" y="5758611"/>
            <a:ext cx="1843140" cy="36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that reason, act,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recover from failure.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5246209" y="5200520"/>
            <a:ext cx="1624584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AI</a:t>
            </a:r>
            <a:endParaRPr lang="en-US" sz="1650" dirty="0"/>
          </a:p>
        </p:txBody>
      </p:sp>
      <p:sp>
        <p:nvSpPr>
          <p:cNvPr id="38" name="Text 25"/>
          <p:cNvSpPr txBox="1"/>
          <p:nvPr/>
        </p:nvSpPr>
        <p:spPr>
          <a:xfrm>
            <a:off x="5246209" y="5517665"/>
            <a:ext cx="1690134" cy="36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Text, image, audio and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 data together.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7478724" y="5200520"/>
            <a:ext cx="1700403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Trustworthy AI</a:t>
            </a:r>
            <a:endParaRPr lang="en-US" sz="1650" dirty="0"/>
          </a:p>
        </p:txBody>
      </p:sp>
      <p:sp>
        <p:nvSpPr>
          <p:cNvPr id="40" name="Text 27"/>
          <p:cNvSpPr txBox="1"/>
          <p:nvPr/>
        </p:nvSpPr>
        <p:spPr>
          <a:xfrm>
            <a:off x="7478724" y="5517665"/>
            <a:ext cx="1945829" cy="36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that stays valid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pressure.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9711388" y="5200520"/>
            <a:ext cx="1894314" cy="479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Human-Centered</a:t>
            </a:r>
            <a:endParaRPr lang="en-US" sz="16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</a:t>
            </a:r>
            <a:endParaRPr lang="en-US" sz="1650" dirty="0"/>
          </a:p>
        </p:txBody>
      </p:sp>
      <p:sp>
        <p:nvSpPr>
          <p:cNvPr id="42" name="Text 29"/>
          <p:cNvSpPr txBox="1"/>
          <p:nvPr/>
        </p:nvSpPr>
        <p:spPr>
          <a:xfrm>
            <a:off x="9711388" y="5758611"/>
            <a:ext cx="1960377" cy="36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Systems people can direct,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inspect and correct.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953618"/>
            <a:ext cx="6572086" cy="3788474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3954" y="4222148"/>
            <a:ext cx="1333467" cy="1333467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0635" y="4523071"/>
            <a:ext cx="716143" cy="400486"/>
          </a:xfrm>
          <a:prstGeom prst="roundRect">
            <a:avLst>
              <a:gd name="adj" fmla="val 50000"/>
            </a:avLst>
          </a:prstGeom>
          <a:ln w="9525">
            <a:solidFill>
              <a:srgbClr val="7F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12976" y="4523071"/>
            <a:ext cx="672835" cy="400486"/>
          </a:xfrm>
          <a:prstGeom prst="roundRect">
            <a:avLst>
              <a:gd name="adj" fmla="val 50000"/>
            </a:avLst>
          </a:prstGeom>
          <a:ln w="9525">
            <a:solidFill>
              <a:srgbClr val="7FA6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82" y="2058390"/>
            <a:ext cx="6362541" cy="3578929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726" y="4326921"/>
            <a:ext cx="1123922" cy="112392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816" y="4746010"/>
            <a:ext cx="285743" cy="285743"/>
          </a:xfrm>
          <a:prstGeom prst="ellipse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11" name="Text 5"/>
          <p:cNvSpPr txBox="1"/>
          <p:nvPr/>
        </p:nvSpPr>
        <p:spPr>
          <a:xfrm>
            <a:off x="619110" y="542911"/>
            <a:ext cx="114982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425" dirty="0"/>
          </a:p>
        </p:txBody>
      </p:sp>
      <p:sp>
        <p:nvSpPr>
          <p:cNvPr id="12" name="Text 6"/>
          <p:cNvSpPr txBox="1"/>
          <p:nvPr/>
        </p:nvSpPr>
        <p:spPr>
          <a:xfrm>
            <a:off x="619110" y="879552"/>
            <a:ext cx="1927003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SEAM</a:t>
            </a:r>
            <a:endParaRPr lang="en-US" sz="4350" dirty="0"/>
          </a:p>
        </p:txBody>
      </p:sp>
      <p:sp>
        <p:nvSpPr>
          <p:cNvPr id="13" name="Text 7"/>
          <p:cNvSpPr txBox="1"/>
          <p:nvPr/>
        </p:nvSpPr>
        <p:spPr>
          <a:xfrm>
            <a:off x="7572186" y="2178045"/>
            <a:ext cx="182363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#HumanCenteredAI</a:t>
            </a:r>
            <a:endParaRPr lang="en-US" sz="1275" dirty="0"/>
          </a:p>
        </p:txBody>
      </p:sp>
      <p:sp>
        <p:nvSpPr>
          <p:cNvPr id="14" name="Text 8"/>
          <p:cNvSpPr txBox="1"/>
          <p:nvPr/>
        </p:nvSpPr>
        <p:spPr>
          <a:xfrm>
            <a:off x="9173685" y="2178045"/>
            <a:ext cx="118798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#LLMEditing</a:t>
            </a:r>
            <a:endParaRPr lang="en-US" sz="1275" dirty="0"/>
          </a:p>
        </p:txBody>
      </p:sp>
      <p:sp>
        <p:nvSpPr>
          <p:cNvPr id="15" name="Text 9"/>
          <p:cNvSpPr txBox="1"/>
          <p:nvPr/>
        </p:nvSpPr>
        <p:spPr>
          <a:xfrm>
            <a:off x="7572186" y="2549957"/>
            <a:ext cx="4281316" cy="1423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Measuring how much typed user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 gets absorbed into edited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artifacts at unmarked within-turn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seams.</a:t>
            </a:r>
            <a:endParaRPr lang="en-US" sz="2175" dirty="0"/>
          </a:p>
        </p:txBody>
      </p:sp>
      <p:sp>
        <p:nvSpPr>
          <p:cNvPr id="16" name="Text 10"/>
          <p:cNvSpPr txBox="1"/>
          <p:nvPr/>
        </p:nvSpPr>
        <p:spPr>
          <a:xfrm>
            <a:off x="10063506" y="4627844"/>
            <a:ext cx="58640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275" dirty="0"/>
          </a:p>
        </p:txBody>
      </p:sp>
      <p:sp>
        <p:nvSpPr>
          <p:cNvPr id="17" name="Text 11"/>
          <p:cNvSpPr txBox="1"/>
          <p:nvPr/>
        </p:nvSpPr>
        <p:spPr>
          <a:xfrm>
            <a:off x="10855847" y="4627844"/>
            <a:ext cx="5365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75" dirty="0"/>
          </a:p>
        </p:txBody>
      </p:sp>
      <p:sp>
        <p:nvSpPr>
          <p:cNvPr id="18" name="Text 12"/>
          <p:cNvSpPr txBox="1"/>
          <p:nvPr/>
        </p:nvSpPr>
        <p:spPr>
          <a:xfrm>
            <a:off x="9920635" y="5047380"/>
            <a:ext cx="199118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project page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2101847"/>
            <a:ext cx="6572086" cy="3788474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72186" y="4303853"/>
            <a:ext cx="4000400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4" name="Shape 2"/>
          <p:cNvSpPr/>
          <p:nvPr/>
        </p:nvSpPr>
        <p:spPr>
          <a:xfrm>
            <a:off x="7993954" y="5163760"/>
            <a:ext cx="1333467" cy="1333467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0635" y="5464683"/>
            <a:ext cx="652297" cy="400486"/>
          </a:xfrm>
          <a:prstGeom prst="roundRect">
            <a:avLst>
              <a:gd name="adj" fmla="val 50000"/>
            </a:avLst>
          </a:prstGeom>
          <a:ln w="9525">
            <a:solidFill>
              <a:srgbClr val="7FA6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82" y="2206619"/>
            <a:ext cx="6362541" cy="3578929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726" y="5268533"/>
            <a:ext cx="1123922" cy="112392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816" y="5687622"/>
            <a:ext cx="285743" cy="285743"/>
          </a:xfrm>
          <a:prstGeom prst="ellipse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11" name="Text 5"/>
          <p:cNvSpPr txBox="1"/>
          <p:nvPr/>
        </p:nvSpPr>
        <p:spPr>
          <a:xfrm>
            <a:off x="619110" y="542911"/>
            <a:ext cx="114982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425" dirty="0"/>
          </a:p>
        </p:txBody>
      </p:sp>
      <p:sp>
        <p:nvSpPr>
          <p:cNvPr id="12" name="Text 6"/>
          <p:cNvSpPr txBox="1"/>
          <p:nvPr/>
        </p:nvSpPr>
        <p:spPr>
          <a:xfrm>
            <a:off x="619110" y="879552"/>
            <a:ext cx="6504358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4D Gaussian Streaming</a:t>
            </a:r>
            <a:endParaRPr lang="en-US" sz="4350" dirty="0"/>
          </a:p>
        </p:txBody>
      </p:sp>
      <p:sp>
        <p:nvSpPr>
          <p:cNvPr id="13" name="Text 7"/>
          <p:cNvSpPr txBox="1"/>
          <p:nvPr/>
        </p:nvSpPr>
        <p:spPr>
          <a:xfrm>
            <a:off x="7572186" y="1533189"/>
            <a:ext cx="16173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#ComputerVision</a:t>
            </a:r>
            <a:endParaRPr lang="en-US" sz="1275" dirty="0"/>
          </a:p>
        </p:txBody>
      </p:sp>
      <p:sp>
        <p:nvSpPr>
          <p:cNvPr id="14" name="Text 8"/>
          <p:cNvSpPr txBox="1"/>
          <p:nvPr/>
        </p:nvSpPr>
        <p:spPr>
          <a:xfrm>
            <a:off x="8994352" y="1533189"/>
            <a:ext cx="179949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#GaussianSplatting</a:t>
            </a:r>
            <a:endParaRPr lang="en-US" sz="1275" dirty="0"/>
          </a:p>
        </p:txBody>
      </p:sp>
      <p:sp>
        <p:nvSpPr>
          <p:cNvPr id="15" name="Text 9"/>
          <p:cNvSpPr txBox="1"/>
          <p:nvPr/>
        </p:nvSpPr>
        <p:spPr>
          <a:xfrm>
            <a:off x="7572186" y="1905101"/>
            <a:ext cx="4589896" cy="2168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Gaussians you pick as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anchors barely matters: cheap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samplers match the default strategy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deployment budgets, so the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8,192-anchor choice over-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spends compute.</a:t>
            </a:r>
            <a:endParaRPr lang="en-US" sz="2175" dirty="0"/>
          </a:p>
        </p:txBody>
      </p:sp>
      <p:sp>
        <p:nvSpPr>
          <p:cNvPr id="16" name="Text 10"/>
          <p:cNvSpPr txBox="1"/>
          <p:nvPr/>
        </p:nvSpPr>
        <p:spPr>
          <a:xfrm>
            <a:off x="7572186" y="4475299"/>
            <a:ext cx="4421999" cy="45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Matter Which Gaussians You Pick in 4D</a:t>
            </a:r>
            <a:endParaRPr lang="en-US" sz="1425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Streaming?</a:t>
            </a:r>
            <a:endParaRPr lang="en-US" sz="1425" dirty="0"/>
          </a:p>
        </p:txBody>
      </p:sp>
      <p:sp>
        <p:nvSpPr>
          <p:cNvPr id="17" name="Text 11"/>
          <p:cNvSpPr txBox="1"/>
          <p:nvPr/>
        </p:nvSpPr>
        <p:spPr>
          <a:xfrm>
            <a:off x="10063506" y="5569456"/>
            <a:ext cx="5129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275" dirty="0"/>
          </a:p>
        </p:txBody>
      </p:sp>
      <p:sp>
        <p:nvSpPr>
          <p:cNvPr id="18" name="Text 12"/>
          <p:cNvSpPr txBox="1"/>
          <p:nvPr/>
        </p:nvSpPr>
        <p:spPr>
          <a:xfrm>
            <a:off x="9920635" y="5988992"/>
            <a:ext cx="199118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project page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953469"/>
            <a:ext cx="6572086" cy="3788474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72186" y="3782670"/>
            <a:ext cx="4000400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4" name="Shape 2"/>
          <p:cNvSpPr/>
          <p:nvPr/>
        </p:nvSpPr>
        <p:spPr>
          <a:xfrm>
            <a:off x="7993954" y="4642577"/>
            <a:ext cx="1333467" cy="1333467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0635" y="4943500"/>
            <a:ext cx="652297" cy="400486"/>
          </a:xfrm>
          <a:prstGeom prst="roundRect">
            <a:avLst>
              <a:gd name="adj" fmla="val 50000"/>
            </a:avLst>
          </a:prstGeom>
          <a:ln w="9525">
            <a:solidFill>
              <a:srgbClr val="7F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49130" y="4943500"/>
            <a:ext cx="672835" cy="400486"/>
          </a:xfrm>
          <a:prstGeom prst="roundRect">
            <a:avLst>
              <a:gd name="adj" fmla="val 50000"/>
            </a:avLst>
          </a:prstGeom>
          <a:ln w="9525">
            <a:solidFill>
              <a:srgbClr val="7FA6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82" y="2058242"/>
            <a:ext cx="6362541" cy="3578929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726" y="4747350"/>
            <a:ext cx="1123922" cy="112392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816" y="5166439"/>
            <a:ext cx="285743" cy="285743"/>
          </a:xfrm>
          <a:prstGeom prst="ellipse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12" name="Text 6"/>
          <p:cNvSpPr txBox="1"/>
          <p:nvPr/>
        </p:nvSpPr>
        <p:spPr>
          <a:xfrm>
            <a:off x="619110" y="542911"/>
            <a:ext cx="114982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425" dirty="0"/>
          </a:p>
        </p:txBody>
      </p:sp>
      <p:sp>
        <p:nvSpPr>
          <p:cNvPr id="13" name="Text 7"/>
          <p:cNvSpPr txBox="1"/>
          <p:nvPr/>
        </p:nvSpPr>
        <p:spPr>
          <a:xfrm>
            <a:off x="619110" y="879552"/>
            <a:ext cx="9056860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Ranking, Different Winner</a:t>
            </a:r>
            <a:endParaRPr lang="en-US" sz="4350" dirty="0"/>
          </a:p>
        </p:txBody>
      </p:sp>
      <p:sp>
        <p:nvSpPr>
          <p:cNvPr id="14" name="Text 8"/>
          <p:cNvSpPr txBox="1"/>
          <p:nvPr/>
        </p:nvSpPr>
        <p:spPr>
          <a:xfrm>
            <a:off x="7572186" y="1757616"/>
            <a:ext cx="223301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#ConversationalMemory</a:t>
            </a:r>
            <a:endParaRPr lang="en-US" sz="1275" dirty="0"/>
          </a:p>
        </p:txBody>
      </p:sp>
      <p:sp>
        <p:nvSpPr>
          <p:cNvPr id="15" name="Text 9"/>
          <p:cNvSpPr txBox="1"/>
          <p:nvPr/>
        </p:nvSpPr>
        <p:spPr>
          <a:xfrm>
            <a:off x="9529673" y="1757616"/>
            <a:ext cx="111268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#Evaluation</a:t>
            </a:r>
            <a:endParaRPr lang="en-US" sz="1275" dirty="0"/>
          </a:p>
        </p:txBody>
      </p:sp>
      <p:sp>
        <p:nvSpPr>
          <p:cNvPr id="16" name="Text 10"/>
          <p:cNvSpPr txBox="1"/>
          <p:nvPr/>
        </p:nvSpPr>
        <p:spPr>
          <a:xfrm>
            <a:off x="7572186" y="2129528"/>
            <a:ext cx="4396327" cy="1423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scoring target a memory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picks can flip which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wins, even when the overall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ranking looks stable.</a:t>
            </a:r>
            <a:endParaRPr lang="en-US" sz="2175" dirty="0"/>
          </a:p>
        </p:txBody>
      </p:sp>
      <p:sp>
        <p:nvSpPr>
          <p:cNvPr id="17" name="Text 11"/>
          <p:cNvSpPr txBox="1"/>
          <p:nvPr/>
        </p:nvSpPr>
        <p:spPr>
          <a:xfrm>
            <a:off x="7572186" y="3954116"/>
            <a:ext cx="4319653" cy="45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Ranking, Different Winner: How Scoring</a:t>
            </a:r>
            <a:endParaRPr lang="en-US" sz="1425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Shape LLM Memory Benchmarks</a:t>
            </a:r>
            <a:endParaRPr lang="en-US" sz="1425" dirty="0"/>
          </a:p>
        </p:txBody>
      </p:sp>
      <p:sp>
        <p:nvSpPr>
          <p:cNvPr id="18" name="Text 12"/>
          <p:cNvSpPr txBox="1"/>
          <p:nvPr/>
        </p:nvSpPr>
        <p:spPr>
          <a:xfrm>
            <a:off x="10063506" y="5048273"/>
            <a:ext cx="5129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275" dirty="0"/>
          </a:p>
        </p:txBody>
      </p:sp>
      <p:sp>
        <p:nvSpPr>
          <p:cNvPr id="19" name="Text 13"/>
          <p:cNvSpPr txBox="1"/>
          <p:nvPr/>
        </p:nvSpPr>
        <p:spPr>
          <a:xfrm>
            <a:off x="10792002" y="5048273"/>
            <a:ext cx="5365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75" dirty="0"/>
          </a:p>
        </p:txBody>
      </p:sp>
      <p:sp>
        <p:nvSpPr>
          <p:cNvPr id="20" name="Text 14"/>
          <p:cNvSpPr txBox="1"/>
          <p:nvPr/>
        </p:nvSpPr>
        <p:spPr>
          <a:xfrm>
            <a:off x="9920635" y="5467809"/>
            <a:ext cx="199118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project page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108147"/>
            <a:ext cx="3511363" cy="5624223"/>
          </a:xfrm>
          <a:prstGeom prst="rect">
            <a:avLst/>
          </a:prstGeom>
          <a:solidFill>
            <a:srgbClr val="0A2596"/>
          </a:solidFill>
          <a:ln/>
        </p:spPr>
      </p:sp>
      <p:sp>
        <p:nvSpPr>
          <p:cNvPr id="3" name="Shape 1"/>
          <p:cNvSpPr/>
          <p:nvPr/>
        </p:nvSpPr>
        <p:spPr>
          <a:xfrm>
            <a:off x="838179" y="4348351"/>
            <a:ext cx="3073224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4" name="Shape 2"/>
          <p:cNvSpPr/>
          <p:nvPr/>
        </p:nvSpPr>
        <p:spPr>
          <a:xfrm>
            <a:off x="838179" y="5579873"/>
            <a:ext cx="933427" cy="933427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04952" y="6074715"/>
            <a:ext cx="652297" cy="400486"/>
          </a:xfrm>
          <a:prstGeom prst="roundRect">
            <a:avLst>
              <a:gd name="adj" fmla="val 50000"/>
            </a:avLst>
          </a:prstGeom>
          <a:ln w="9525">
            <a:solidFill>
              <a:srgbClr val="7F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33448" y="6074715"/>
            <a:ext cx="672835" cy="400486"/>
          </a:xfrm>
          <a:prstGeom prst="roundRect">
            <a:avLst>
              <a:gd name="adj" fmla="val 50000"/>
            </a:avLst>
          </a:prstGeom>
          <a:ln w="9525">
            <a:solidFill>
              <a:srgbClr val="7F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0017" y="1108147"/>
            <a:ext cx="3511512" cy="5624223"/>
          </a:xfrm>
          <a:prstGeom prst="rect">
            <a:avLst/>
          </a:prstGeom>
          <a:solidFill>
            <a:srgbClr val="0A2596"/>
          </a:solidFill>
          <a:ln/>
        </p:spPr>
      </p:sp>
      <p:sp>
        <p:nvSpPr>
          <p:cNvPr id="8" name="Shape 6"/>
          <p:cNvSpPr/>
          <p:nvPr/>
        </p:nvSpPr>
        <p:spPr>
          <a:xfrm>
            <a:off x="4559087" y="4348351"/>
            <a:ext cx="3073373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9" name="Shape 7"/>
          <p:cNvSpPr/>
          <p:nvPr/>
        </p:nvSpPr>
        <p:spPr>
          <a:xfrm>
            <a:off x="4559087" y="5579873"/>
            <a:ext cx="933427" cy="933427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5860" y="6074715"/>
            <a:ext cx="652297" cy="400486"/>
          </a:xfrm>
          <a:prstGeom prst="roundRect">
            <a:avLst>
              <a:gd name="adj" fmla="val 50000"/>
            </a:avLst>
          </a:prstGeom>
          <a:ln w="9525">
            <a:solidFill>
              <a:srgbClr val="7F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1074" y="1108147"/>
            <a:ext cx="3511363" cy="5624223"/>
          </a:xfrm>
          <a:prstGeom prst="rect">
            <a:avLst/>
          </a:prstGeom>
          <a:solidFill>
            <a:srgbClr val="0A2596"/>
          </a:solidFill>
          <a:ln/>
        </p:spPr>
      </p:sp>
      <p:sp>
        <p:nvSpPr>
          <p:cNvPr id="12" name="Shape 10"/>
          <p:cNvSpPr/>
          <p:nvPr/>
        </p:nvSpPr>
        <p:spPr>
          <a:xfrm>
            <a:off x="8280143" y="4579773"/>
            <a:ext cx="3073224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13" name="Shape 11"/>
          <p:cNvSpPr/>
          <p:nvPr/>
        </p:nvSpPr>
        <p:spPr>
          <a:xfrm>
            <a:off x="8280143" y="5579873"/>
            <a:ext cx="933427" cy="933427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46917" y="6074715"/>
            <a:ext cx="707362" cy="400486"/>
          </a:xfrm>
          <a:prstGeom prst="roundRect">
            <a:avLst>
              <a:gd name="adj" fmla="val 50000"/>
            </a:avLst>
          </a:prstGeom>
          <a:ln w="9525">
            <a:solidFill>
              <a:srgbClr val="7FA6F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34" y="1146246"/>
            <a:ext cx="3492313" cy="1409665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02" y="5665596"/>
            <a:ext cx="761981" cy="761981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20" y="5941814"/>
            <a:ext cx="209545" cy="209545"/>
          </a:xfrm>
          <a:prstGeom prst="ellipse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542" y="1146246"/>
            <a:ext cx="3492462" cy="1409665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810" y="5665596"/>
            <a:ext cx="761981" cy="761981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028" y="5941814"/>
            <a:ext cx="209545" cy="209545"/>
          </a:xfrm>
          <a:prstGeom prst="ellipse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0599" y="1146246"/>
            <a:ext cx="3492313" cy="1409665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5866" y="5665596"/>
            <a:ext cx="761981" cy="761981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2084" y="5941814"/>
            <a:ext cx="209545" cy="209545"/>
          </a:xfrm>
          <a:prstGeom prst="ellipse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26" name="Text 14"/>
          <p:cNvSpPr txBox="1"/>
          <p:nvPr/>
        </p:nvSpPr>
        <p:spPr>
          <a:xfrm>
            <a:off x="619110" y="542911"/>
            <a:ext cx="1299916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425" dirty="0"/>
          </a:p>
        </p:txBody>
      </p:sp>
      <p:sp>
        <p:nvSpPr>
          <p:cNvPr id="27" name="Text 15"/>
          <p:cNvSpPr txBox="1"/>
          <p:nvPr/>
        </p:nvSpPr>
        <p:spPr>
          <a:xfrm>
            <a:off x="838179" y="2765455"/>
            <a:ext cx="58931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#RAG</a:t>
            </a:r>
            <a:endParaRPr lang="en-US" sz="1275" dirty="0"/>
          </a:p>
        </p:txBody>
      </p:sp>
      <p:sp>
        <p:nvSpPr>
          <p:cNvPr id="28" name="Text 16"/>
          <p:cNvSpPr txBox="1"/>
          <p:nvPr/>
        </p:nvSpPr>
        <p:spPr>
          <a:xfrm>
            <a:off x="1366357" y="2765455"/>
            <a:ext cx="111268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#Evaluation</a:t>
            </a:r>
            <a:endParaRPr lang="en-US" sz="1275" dirty="0"/>
          </a:p>
        </p:txBody>
      </p:sp>
      <p:sp>
        <p:nvSpPr>
          <p:cNvPr id="29" name="Text 17"/>
          <p:cNvSpPr txBox="1"/>
          <p:nvPr/>
        </p:nvSpPr>
        <p:spPr>
          <a:xfrm>
            <a:off x="838179" y="3137367"/>
            <a:ext cx="3022693" cy="25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94"/>
              </a:lnSpc>
              <a:buNone/>
            </a:pPr>
            <a:r>
              <a:rPr lang="en-US" sz="1875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RAG Compression</a:t>
            </a:r>
            <a:endParaRPr lang="en-US" sz="1875" dirty="0"/>
          </a:p>
        </p:txBody>
      </p:sp>
      <p:sp>
        <p:nvSpPr>
          <p:cNvPr id="30" name="Text 18"/>
          <p:cNvSpPr txBox="1"/>
          <p:nvPr/>
        </p:nvSpPr>
        <p:spPr>
          <a:xfrm>
            <a:off x="838179" y="3558838"/>
            <a:ext cx="3405038" cy="65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fixed compression layer in a RAG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 collapses the reader-scaling trend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the uncompressed setup shows.</a:t>
            </a:r>
            <a:endParaRPr lang="en-US" sz="1350" dirty="0"/>
          </a:p>
        </p:txBody>
      </p:sp>
      <p:sp>
        <p:nvSpPr>
          <p:cNvPr id="31" name="Text 19"/>
          <p:cNvSpPr txBox="1"/>
          <p:nvPr/>
        </p:nvSpPr>
        <p:spPr>
          <a:xfrm>
            <a:off x="838179" y="4472173"/>
            <a:ext cx="3455869" cy="35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RAG Compression Collapses Measured</a:t>
            </a:r>
            <a:endParaRPr lang="en-US" sz="11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Scaling</a:t>
            </a:r>
            <a:endParaRPr lang="en-US" sz="1125" dirty="0"/>
          </a:p>
        </p:txBody>
      </p:sp>
      <p:sp>
        <p:nvSpPr>
          <p:cNvPr id="32" name="Text 20"/>
          <p:cNvSpPr txBox="1"/>
          <p:nvPr/>
        </p:nvSpPr>
        <p:spPr>
          <a:xfrm>
            <a:off x="2047824" y="6179487"/>
            <a:ext cx="5129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275" dirty="0"/>
          </a:p>
        </p:txBody>
      </p:sp>
      <p:sp>
        <p:nvSpPr>
          <p:cNvPr id="33" name="Text 21"/>
          <p:cNvSpPr txBox="1"/>
          <p:nvPr/>
        </p:nvSpPr>
        <p:spPr>
          <a:xfrm>
            <a:off x="2776319" y="6179487"/>
            <a:ext cx="5365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75" dirty="0"/>
          </a:p>
        </p:txBody>
      </p:sp>
      <p:sp>
        <p:nvSpPr>
          <p:cNvPr id="34" name="Text 22"/>
          <p:cNvSpPr txBox="1"/>
          <p:nvPr/>
        </p:nvSpPr>
        <p:spPr>
          <a:xfrm>
            <a:off x="4559087" y="2765455"/>
            <a:ext cx="100502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#AIAgents</a:t>
            </a:r>
            <a:endParaRPr lang="en-US" sz="1275" dirty="0"/>
          </a:p>
        </p:txBody>
      </p:sp>
      <p:sp>
        <p:nvSpPr>
          <p:cNvPr id="35" name="Text 23"/>
          <p:cNvSpPr txBox="1"/>
          <p:nvPr/>
        </p:nvSpPr>
        <p:spPr>
          <a:xfrm>
            <a:off x="5448759" y="2765455"/>
            <a:ext cx="143820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#TrustworthyAI</a:t>
            </a:r>
            <a:endParaRPr lang="en-US" sz="1275" dirty="0"/>
          </a:p>
        </p:txBody>
      </p:sp>
      <p:sp>
        <p:nvSpPr>
          <p:cNvPr id="36" name="Text 24"/>
          <p:cNvSpPr txBox="1"/>
          <p:nvPr/>
        </p:nvSpPr>
        <p:spPr>
          <a:xfrm>
            <a:off x="4559087" y="3137367"/>
            <a:ext cx="2304556" cy="25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94"/>
              </a:lnSpc>
              <a:buNone/>
            </a:pPr>
            <a:r>
              <a:rPr lang="en-US" sz="1875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Monitors</a:t>
            </a:r>
            <a:endParaRPr lang="en-US" sz="1875" dirty="0"/>
          </a:p>
        </p:txBody>
      </p:sp>
      <p:sp>
        <p:nvSpPr>
          <p:cNvPr id="37" name="Text 25"/>
          <p:cNvSpPr txBox="1"/>
          <p:nvPr/>
        </p:nvSpPr>
        <p:spPr>
          <a:xfrm>
            <a:off x="4559087" y="3558838"/>
            <a:ext cx="3115113" cy="65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affordances that let an agent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notice and repair tool calls that failed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silently.</a:t>
            </a:r>
            <a:endParaRPr lang="en-US" sz="1350" dirty="0"/>
          </a:p>
        </p:txBody>
      </p:sp>
      <p:sp>
        <p:nvSpPr>
          <p:cNvPr id="38" name="Text 26"/>
          <p:cNvSpPr txBox="1"/>
          <p:nvPr/>
        </p:nvSpPr>
        <p:spPr>
          <a:xfrm>
            <a:off x="4559087" y="4472173"/>
            <a:ext cx="3476406" cy="35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Monitors: Recovery Affordances for</a:t>
            </a:r>
            <a:endParaRPr lang="en-US" sz="11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Tool Failures</a:t>
            </a:r>
            <a:endParaRPr lang="en-US" sz="1125" dirty="0"/>
          </a:p>
        </p:txBody>
      </p:sp>
      <p:sp>
        <p:nvSpPr>
          <p:cNvPr id="39" name="Text 27"/>
          <p:cNvSpPr txBox="1"/>
          <p:nvPr/>
        </p:nvSpPr>
        <p:spPr>
          <a:xfrm>
            <a:off x="5768732" y="6179487"/>
            <a:ext cx="5129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275" dirty="0"/>
          </a:p>
        </p:txBody>
      </p:sp>
      <p:sp>
        <p:nvSpPr>
          <p:cNvPr id="40" name="Text 28"/>
          <p:cNvSpPr txBox="1"/>
          <p:nvPr/>
        </p:nvSpPr>
        <p:spPr>
          <a:xfrm>
            <a:off x="8280143" y="2765455"/>
            <a:ext cx="16173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#ComputerVision</a:t>
            </a:r>
            <a:endParaRPr lang="en-US" sz="1275" dirty="0"/>
          </a:p>
        </p:txBody>
      </p:sp>
      <p:sp>
        <p:nvSpPr>
          <p:cNvPr id="41" name="Text 29"/>
          <p:cNvSpPr txBox="1"/>
          <p:nvPr/>
        </p:nvSpPr>
        <p:spPr>
          <a:xfrm>
            <a:off x="9702309" y="2765455"/>
            <a:ext cx="1828422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#FoundationModels</a:t>
            </a:r>
            <a:endParaRPr lang="en-US" sz="1275" dirty="0"/>
          </a:p>
        </p:txBody>
      </p:sp>
      <p:sp>
        <p:nvSpPr>
          <p:cNvPr id="42" name="Text 30"/>
          <p:cNvSpPr txBox="1"/>
          <p:nvPr/>
        </p:nvSpPr>
        <p:spPr>
          <a:xfrm>
            <a:off x="8280143" y="3137367"/>
            <a:ext cx="3202570" cy="25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94"/>
              </a:lnSpc>
              <a:buNone/>
            </a:pPr>
            <a:r>
              <a:rPr lang="en-US" sz="1875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Thin-Object Segmentation</a:t>
            </a:r>
            <a:endParaRPr lang="en-US" sz="1875" dirty="0"/>
          </a:p>
        </p:txBody>
      </p:sp>
      <p:sp>
        <p:nvSpPr>
          <p:cNvPr id="43" name="Text 31"/>
          <p:cNvSpPr txBox="1"/>
          <p:nvPr/>
        </p:nvSpPr>
        <p:spPr>
          <a:xfrm>
            <a:off x="8280143" y="3558838"/>
            <a:ext cx="3597066" cy="884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cross-domain survey of power-line, crack,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retinal-vessel segmentation, from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pipelines to promptable foundation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models.</a:t>
            </a:r>
            <a:endParaRPr lang="en-US" sz="1350" dirty="0"/>
          </a:p>
        </p:txBody>
      </p:sp>
      <p:sp>
        <p:nvSpPr>
          <p:cNvPr id="44" name="Text 32"/>
          <p:cNvSpPr txBox="1"/>
          <p:nvPr/>
        </p:nvSpPr>
        <p:spPr>
          <a:xfrm>
            <a:off x="8280143" y="4703595"/>
            <a:ext cx="3599462" cy="72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Classical Pipelines to Promptable</a:t>
            </a:r>
            <a:endParaRPr lang="en-US" sz="11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Models: A Cross-Domain Survey of</a:t>
            </a:r>
            <a:endParaRPr lang="en-US" sz="11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Thin-Object Segmentation for Power Lines,</a:t>
            </a:r>
            <a:endParaRPr lang="en-US" sz="11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Cracks, and Retinal Vessels</a:t>
            </a:r>
            <a:endParaRPr lang="en-US" sz="1125" dirty="0"/>
          </a:p>
        </p:txBody>
      </p:sp>
      <p:sp>
        <p:nvSpPr>
          <p:cNvPr id="45" name="Text 33"/>
          <p:cNvSpPr txBox="1"/>
          <p:nvPr/>
        </p:nvSpPr>
        <p:spPr>
          <a:xfrm>
            <a:off x="9489788" y="6179487"/>
            <a:ext cx="576302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877718"/>
            <a:ext cx="5314817" cy="3902027"/>
          </a:xfrm>
          <a:prstGeom prst="rect">
            <a:avLst/>
          </a:prstGeom>
          <a:solidFill>
            <a:srgbClr val="0A2596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57769" y="1877718"/>
            <a:ext cx="5314817" cy="3902027"/>
          </a:xfrm>
          <a:prstGeom prst="rect">
            <a:avLst/>
          </a:prstGeom>
          <a:solidFill>
            <a:srgbClr val="0A2596"/>
          </a:solidFill>
          <a:ln w="9525">
            <a:solidFill>
              <a:srgbClr val="1B337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666" y="2172985"/>
            <a:ext cx="1809705" cy="1809705"/>
          </a:xfrm>
          <a:prstGeom prst="ellipse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325" y="2172985"/>
            <a:ext cx="1809705" cy="1809705"/>
          </a:xfrm>
          <a:prstGeom prst="ellipse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8" name="Text 3"/>
          <p:cNvSpPr txBox="1"/>
          <p:nvPr/>
        </p:nvSpPr>
        <p:spPr>
          <a:xfrm>
            <a:off x="619110" y="542911"/>
            <a:ext cx="975077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25" dirty="0"/>
          </a:p>
        </p:txBody>
      </p:sp>
      <p:sp>
        <p:nvSpPr>
          <p:cNvPr id="9" name="Text 4"/>
          <p:cNvSpPr txBox="1"/>
          <p:nvPr/>
        </p:nvSpPr>
        <p:spPr>
          <a:xfrm>
            <a:off x="619110" y="879552"/>
            <a:ext cx="2620324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Direction</a:t>
            </a:r>
            <a:endParaRPr lang="en-US" sz="4350" dirty="0"/>
          </a:p>
        </p:txBody>
      </p:sp>
      <p:sp>
        <p:nvSpPr>
          <p:cNvPr id="10" name="Text 5"/>
          <p:cNvSpPr txBox="1"/>
          <p:nvPr/>
        </p:nvSpPr>
        <p:spPr>
          <a:xfrm>
            <a:off x="1421763" y="4182710"/>
            <a:ext cx="3709510" cy="35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Rabab Abdelfattah</a:t>
            </a:r>
            <a:endParaRPr lang="en-US" sz="2550" dirty="0"/>
          </a:p>
        </p:txBody>
      </p:sp>
      <p:sp>
        <p:nvSpPr>
          <p:cNvPr id="11" name="Text 6"/>
          <p:cNvSpPr txBox="1"/>
          <p:nvPr/>
        </p:nvSpPr>
        <p:spPr>
          <a:xfrm>
            <a:off x="2218115" y="4650316"/>
            <a:ext cx="2116806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Director, AIMS Lab</a:t>
            </a:r>
            <a:endParaRPr lang="en-US" sz="1650" dirty="0"/>
          </a:p>
        </p:txBody>
      </p:sp>
      <p:sp>
        <p:nvSpPr>
          <p:cNvPr id="12" name="Text 7"/>
          <p:cNvSpPr txBox="1"/>
          <p:nvPr/>
        </p:nvSpPr>
        <p:spPr>
          <a:xfrm>
            <a:off x="681217" y="4998863"/>
            <a:ext cx="519045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 Sciences and Computer Engineering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7764194" y="4182710"/>
            <a:ext cx="2301817" cy="35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Sarah Lee</a:t>
            </a:r>
            <a:endParaRPr lang="en-US" sz="2550" dirty="0"/>
          </a:p>
        </p:txBody>
      </p:sp>
      <p:sp>
        <p:nvSpPr>
          <p:cNvPr id="14" name="Text 9"/>
          <p:cNvSpPr txBox="1"/>
          <p:nvPr/>
        </p:nvSpPr>
        <p:spPr>
          <a:xfrm>
            <a:off x="6469801" y="4650316"/>
            <a:ext cx="4890603" cy="519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Director, School of Computing Sciences and</a:t>
            </a:r>
            <a:endParaRPr lang="en-US" sz="1650" dirty="0"/>
          </a:p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Engineering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7385272" y="5271212"/>
            <a:ext cx="3059661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Southern Mississippi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1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21" y="1704635"/>
            <a:ext cx="838179" cy="838179"/>
          </a:xfrm>
          <a:prstGeom prst="ellipse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746" y="1704635"/>
            <a:ext cx="838179" cy="838179"/>
          </a:xfrm>
          <a:prstGeom prst="ellipse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370" y="1704635"/>
            <a:ext cx="838179" cy="838179"/>
          </a:xfrm>
          <a:prstGeom prst="ellipse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121" y="3232168"/>
            <a:ext cx="838179" cy="838179"/>
          </a:xfrm>
          <a:prstGeom prst="ellipse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1746" y="3232168"/>
            <a:ext cx="838179" cy="838179"/>
          </a:xfrm>
          <a:prstGeom prst="ellipse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1370" y="3232168"/>
            <a:ext cx="838179" cy="838179"/>
          </a:xfrm>
          <a:prstGeom prst="ellipse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0995" y="3232168"/>
            <a:ext cx="838179" cy="838179"/>
          </a:xfrm>
          <a:prstGeom prst="ellipse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620" y="3232168"/>
            <a:ext cx="838179" cy="838179"/>
          </a:xfrm>
          <a:prstGeom prst="ellipse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0245" y="3232168"/>
            <a:ext cx="838179" cy="838179"/>
          </a:xfrm>
          <a:prstGeom prst="ellipse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9869" y="3232168"/>
            <a:ext cx="838179" cy="838179"/>
          </a:xfrm>
          <a:prstGeom prst="ellipse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9494" y="3232168"/>
            <a:ext cx="838179" cy="838179"/>
          </a:xfrm>
          <a:prstGeom prst="ellipse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39119" y="3232168"/>
            <a:ext cx="838179" cy="838179"/>
          </a:xfrm>
          <a:prstGeom prst="ellipse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62121" y="4759702"/>
            <a:ext cx="838179" cy="838179"/>
          </a:xfrm>
          <a:prstGeom prst="ellipse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1746" y="4759702"/>
            <a:ext cx="838179" cy="838179"/>
          </a:xfrm>
          <a:prstGeom prst="ellipse">
            <a:avLst/>
          </a:prstGeom>
        </p:spPr>
      </p:pic>
      <p:sp>
        <p:nvSpPr>
          <p:cNvPr id="17" name="Text 0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18" name="Text 1"/>
          <p:cNvSpPr txBox="1"/>
          <p:nvPr/>
        </p:nvSpPr>
        <p:spPr>
          <a:xfrm>
            <a:off x="619110" y="542911"/>
            <a:ext cx="975077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25" dirty="0"/>
          </a:p>
        </p:txBody>
      </p:sp>
      <p:sp>
        <p:nvSpPr>
          <p:cNvPr id="19" name="Text 2"/>
          <p:cNvSpPr txBox="1"/>
          <p:nvPr/>
        </p:nvSpPr>
        <p:spPr>
          <a:xfrm>
            <a:off x="619110" y="879552"/>
            <a:ext cx="2156855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lab</a:t>
            </a:r>
            <a:endParaRPr lang="en-US" sz="4350" dirty="0"/>
          </a:p>
        </p:txBody>
      </p:sp>
      <p:sp>
        <p:nvSpPr>
          <p:cNvPr id="20" name="Text 3"/>
          <p:cNvSpPr txBox="1"/>
          <p:nvPr/>
        </p:nvSpPr>
        <p:spPr>
          <a:xfrm>
            <a:off x="619110" y="1999902"/>
            <a:ext cx="157204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15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Students</a:t>
            </a:r>
            <a:endParaRPr lang="en-US" sz="1575" dirty="0"/>
          </a:p>
        </p:txBody>
      </p:sp>
      <p:sp>
        <p:nvSpPr>
          <p:cNvPr id="21" name="Text 4"/>
          <p:cNvSpPr txBox="1"/>
          <p:nvPr/>
        </p:nvSpPr>
        <p:spPr>
          <a:xfrm>
            <a:off x="2033353" y="2628537"/>
            <a:ext cx="1095566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Olanrewaju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Muili</a:t>
            </a:r>
            <a:endParaRPr lang="en-US" sz="1350" dirty="0"/>
          </a:p>
        </p:txBody>
      </p:sp>
      <p:sp>
        <p:nvSpPr>
          <p:cNvPr id="22" name="Text 5"/>
          <p:cNvSpPr txBox="1"/>
          <p:nvPr/>
        </p:nvSpPr>
        <p:spPr>
          <a:xfrm>
            <a:off x="3114860" y="2628537"/>
            <a:ext cx="95180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Siyan Luo</a:t>
            </a:r>
            <a:endParaRPr lang="en-US" sz="1350" dirty="0"/>
          </a:p>
        </p:txBody>
      </p:sp>
      <p:sp>
        <p:nvSpPr>
          <p:cNvPr id="23" name="Text 6"/>
          <p:cNvSpPr txBox="1"/>
          <p:nvPr/>
        </p:nvSpPr>
        <p:spPr>
          <a:xfrm>
            <a:off x="4205940" y="2628537"/>
            <a:ext cx="789040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Ticauris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Stokes</a:t>
            </a:r>
            <a:endParaRPr lang="en-US" sz="1350" dirty="0"/>
          </a:p>
        </p:txBody>
      </p:sp>
      <p:sp>
        <p:nvSpPr>
          <p:cNvPr id="24" name="Text 7"/>
          <p:cNvSpPr txBox="1"/>
          <p:nvPr/>
        </p:nvSpPr>
        <p:spPr>
          <a:xfrm>
            <a:off x="619110" y="3527436"/>
            <a:ext cx="184844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15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Undergraduates</a:t>
            </a:r>
            <a:endParaRPr lang="en-US" sz="1575" dirty="0"/>
          </a:p>
        </p:txBody>
      </p:sp>
      <p:sp>
        <p:nvSpPr>
          <p:cNvPr id="25" name="Text 8"/>
          <p:cNvSpPr txBox="1"/>
          <p:nvPr/>
        </p:nvSpPr>
        <p:spPr>
          <a:xfrm>
            <a:off x="2261494" y="4156070"/>
            <a:ext cx="639285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Ashim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Dahal</a:t>
            </a:r>
            <a:endParaRPr lang="en-US" sz="1350" dirty="0"/>
          </a:p>
        </p:txBody>
      </p:sp>
      <p:sp>
        <p:nvSpPr>
          <p:cNvPr id="26" name="Text 9"/>
          <p:cNvSpPr txBox="1"/>
          <p:nvPr/>
        </p:nvSpPr>
        <p:spPr>
          <a:xfrm>
            <a:off x="3254688" y="4156070"/>
            <a:ext cx="672145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Sugam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Panthi</a:t>
            </a:r>
            <a:endParaRPr lang="en-US" sz="1350" dirty="0"/>
          </a:p>
        </p:txBody>
      </p:sp>
      <p:sp>
        <p:nvSpPr>
          <p:cNvPr id="27" name="Text 10"/>
          <p:cNvSpPr txBox="1"/>
          <p:nvPr/>
        </p:nvSpPr>
        <p:spPr>
          <a:xfrm>
            <a:off x="4127554" y="4156070"/>
            <a:ext cx="945811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Nhoojah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Maharjan</a:t>
            </a:r>
            <a:endParaRPr lang="en-US" sz="1350" dirty="0"/>
          </a:p>
        </p:txBody>
      </p:sp>
      <p:sp>
        <p:nvSpPr>
          <p:cNvPr id="28" name="Text 11"/>
          <p:cNvSpPr txBox="1"/>
          <p:nvPr/>
        </p:nvSpPr>
        <p:spPr>
          <a:xfrm>
            <a:off x="5131531" y="4156070"/>
            <a:ext cx="957107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Sakshyam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Sigdel</a:t>
            </a:r>
            <a:endParaRPr lang="en-US" sz="1350" dirty="0"/>
          </a:p>
        </p:txBody>
      </p:sp>
      <p:sp>
        <p:nvSpPr>
          <p:cNvPr id="29" name="Text 12"/>
          <p:cNvSpPr txBox="1"/>
          <p:nvPr/>
        </p:nvSpPr>
        <p:spPr>
          <a:xfrm>
            <a:off x="6048200" y="4156070"/>
            <a:ext cx="1143316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Muhaiminul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Yeamin</a:t>
            </a:r>
            <a:endParaRPr lang="en-US" sz="1350" dirty="0"/>
          </a:p>
        </p:txBody>
      </p:sp>
      <p:sp>
        <p:nvSpPr>
          <p:cNvPr id="30" name="Text 13"/>
          <p:cNvSpPr txBox="1"/>
          <p:nvPr/>
        </p:nvSpPr>
        <p:spPr>
          <a:xfrm>
            <a:off x="7049286" y="4156070"/>
            <a:ext cx="1274244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Rashika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Karmacharya</a:t>
            </a:r>
            <a:endParaRPr lang="en-US" sz="1350" dirty="0"/>
          </a:p>
        </p:txBody>
      </p:sp>
      <p:sp>
        <p:nvSpPr>
          <p:cNvPr id="31" name="Text 14"/>
          <p:cNvSpPr txBox="1"/>
          <p:nvPr/>
        </p:nvSpPr>
        <p:spPr>
          <a:xfrm>
            <a:off x="8242568" y="4156070"/>
            <a:ext cx="792634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Bishesta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Bohara</a:t>
            </a:r>
            <a:endParaRPr lang="en-US" sz="1350" dirty="0"/>
          </a:p>
        </p:txBody>
      </p:sp>
      <p:sp>
        <p:nvSpPr>
          <p:cNvPr id="32" name="Text 15"/>
          <p:cNvSpPr txBox="1"/>
          <p:nvPr/>
        </p:nvSpPr>
        <p:spPr>
          <a:xfrm>
            <a:off x="9197585" y="4156070"/>
            <a:ext cx="901997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Shrabya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Bhattarai</a:t>
            </a:r>
            <a:endParaRPr lang="en-US" sz="1350" dirty="0"/>
          </a:p>
        </p:txBody>
      </p:sp>
      <p:sp>
        <p:nvSpPr>
          <p:cNvPr id="33" name="Text 16"/>
          <p:cNvSpPr txBox="1"/>
          <p:nvPr/>
        </p:nvSpPr>
        <p:spPr>
          <a:xfrm>
            <a:off x="10228946" y="4156070"/>
            <a:ext cx="858526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Joshua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Johnston</a:t>
            </a:r>
            <a:endParaRPr lang="en-US" sz="1350" dirty="0"/>
          </a:p>
        </p:txBody>
      </p:sp>
      <p:sp>
        <p:nvSpPr>
          <p:cNvPr id="34" name="Text 17"/>
          <p:cNvSpPr txBox="1"/>
          <p:nvPr/>
        </p:nvSpPr>
        <p:spPr>
          <a:xfrm>
            <a:off x="619110" y="5054970"/>
            <a:ext cx="84603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1575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</a:t>
            </a:r>
            <a:endParaRPr lang="en-US" sz="1575" dirty="0"/>
          </a:p>
        </p:txBody>
      </p:sp>
      <p:sp>
        <p:nvSpPr>
          <p:cNvPr id="35" name="Text 18"/>
          <p:cNvSpPr txBox="1"/>
          <p:nvPr/>
        </p:nvSpPr>
        <p:spPr>
          <a:xfrm>
            <a:off x="2201238" y="5683604"/>
            <a:ext cx="759944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Akram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Hossain</a:t>
            </a:r>
            <a:endParaRPr lang="en-US" sz="1350" dirty="0"/>
          </a:p>
        </p:txBody>
      </p:sp>
      <p:sp>
        <p:nvSpPr>
          <p:cNvPr id="36" name="Text 19"/>
          <p:cNvSpPr txBox="1"/>
          <p:nvPr/>
        </p:nvSpPr>
        <p:spPr>
          <a:xfrm>
            <a:off x="2098036" y="6134840"/>
            <a:ext cx="96634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33"/>
              </a:lnSpc>
              <a:buNone/>
            </a:pPr>
            <a:r>
              <a:rPr lang="en-US" sz="10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2026</a:t>
            </a:r>
            <a:endParaRPr lang="en-US" sz="1050" dirty="0"/>
          </a:p>
        </p:txBody>
      </p:sp>
      <p:sp>
        <p:nvSpPr>
          <p:cNvPr id="37" name="Text 20"/>
          <p:cNvSpPr txBox="1"/>
          <p:nvPr/>
        </p:nvSpPr>
        <p:spPr>
          <a:xfrm>
            <a:off x="3249371" y="5683604"/>
            <a:ext cx="682928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Murad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Hasan</a:t>
            </a:r>
            <a:endParaRPr lang="en-US" sz="1350" dirty="0"/>
          </a:p>
        </p:txBody>
      </p:sp>
      <p:sp>
        <p:nvSpPr>
          <p:cNvPr id="38" name="Text 21"/>
          <p:cNvSpPr txBox="1"/>
          <p:nvPr/>
        </p:nvSpPr>
        <p:spPr>
          <a:xfrm>
            <a:off x="3107661" y="6134840"/>
            <a:ext cx="96634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33"/>
              </a:lnSpc>
              <a:buNone/>
            </a:pPr>
            <a:r>
              <a:rPr lang="en-US" sz="10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795566"/>
            <a:ext cx="38099" cy="2318982"/>
          </a:xfrm>
          <a:prstGeom prst="rect">
            <a:avLst/>
          </a:prstGeom>
          <a:solidFill>
            <a:srgbClr val="7FA6FF"/>
          </a:solidFill>
          <a:ln/>
        </p:spPr>
      </p:sp>
      <p:sp>
        <p:nvSpPr>
          <p:cNvPr id="3" name="Shape 1"/>
          <p:cNvSpPr/>
          <p:nvPr/>
        </p:nvSpPr>
        <p:spPr>
          <a:xfrm>
            <a:off x="4962401" y="1795566"/>
            <a:ext cx="990575" cy="9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38719" y="1795566"/>
            <a:ext cx="38099" cy="2318982"/>
          </a:xfrm>
          <a:prstGeom prst="rect">
            <a:avLst/>
          </a:prstGeom>
          <a:solidFill>
            <a:srgbClr val="7FA6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82010" y="1795566"/>
            <a:ext cx="990575" cy="9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10" y="4305044"/>
            <a:ext cx="38099" cy="1747496"/>
          </a:xfrm>
          <a:prstGeom prst="rect">
            <a:avLst/>
          </a:prstGeom>
          <a:solidFill>
            <a:srgbClr val="7FA6FF"/>
          </a:solidFill>
          <a:ln/>
        </p:spPr>
      </p:sp>
      <p:sp>
        <p:nvSpPr>
          <p:cNvPr id="7" name="Shape 5"/>
          <p:cNvSpPr/>
          <p:nvPr/>
        </p:nvSpPr>
        <p:spPr>
          <a:xfrm>
            <a:off x="6238719" y="4305044"/>
            <a:ext cx="38099" cy="1747496"/>
          </a:xfrm>
          <a:prstGeom prst="rect">
            <a:avLst/>
          </a:prstGeom>
          <a:solidFill>
            <a:srgbClr val="7FA6FF"/>
          </a:solidFill>
          <a:ln/>
        </p:spPr>
      </p:sp>
      <p:sp>
        <p:nvSpPr>
          <p:cNvPr id="8" name="Shape 6"/>
          <p:cNvSpPr/>
          <p:nvPr/>
        </p:nvSpPr>
        <p:spPr>
          <a:xfrm>
            <a:off x="10582010" y="4305044"/>
            <a:ext cx="990575" cy="9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124" y="1881289"/>
            <a:ext cx="819130" cy="81913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916" y="2186082"/>
            <a:ext cx="209545" cy="209545"/>
          </a:xfrm>
          <a:prstGeom prst="ellipse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33" y="1881289"/>
            <a:ext cx="819130" cy="81913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526" y="2186082"/>
            <a:ext cx="209545" cy="209545"/>
          </a:xfrm>
          <a:prstGeom prst="ellipse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7733" y="4390766"/>
            <a:ext cx="819130" cy="819130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526" y="4695559"/>
            <a:ext cx="209545" cy="209545"/>
          </a:xfrm>
          <a:prstGeom prst="ellipse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17" name="Text 8"/>
          <p:cNvSpPr txBox="1"/>
          <p:nvPr/>
        </p:nvSpPr>
        <p:spPr>
          <a:xfrm>
            <a:off x="619110" y="542911"/>
            <a:ext cx="1792309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PUBLICATIONS</a:t>
            </a:r>
            <a:endParaRPr lang="en-US" sz="1425" dirty="0"/>
          </a:p>
        </p:txBody>
      </p:sp>
      <p:sp>
        <p:nvSpPr>
          <p:cNvPr id="18" name="Text 9"/>
          <p:cNvSpPr txBox="1"/>
          <p:nvPr/>
        </p:nvSpPr>
        <p:spPr>
          <a:xfrm>
            <a:off x="619110" y="879552"/>
            <a:ext cx="4308528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papers</a:t>
            </a:r>
            <a:endParaRPr lang="en-US" sz="4350" dirty="0"/>
          </a:p>
        </p:txBody>
      </p:sp>
      <p:sp>
        <p:nvSpPr>
          <p:cNvPr id="19" name="Text 10"/>
          <p:cNvSpPr txBox="1"/>
          <p:nvPr/>
        </p:nvSpPr>
        <p:spPr>
          <a:xfrm>
            <a:off x="828654" y="1814616"/>
            <a:ext cx="4609064" cy="1390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Classical Pipelines to Promptable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Foundation Models: A Cross-Domain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Survey of Thin-Object Segmentation for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Lines, Cracks, and Retinal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Vessels</a:t>
            </a:r>
            <a:endParaRPr lang="en-US" sz="1800" dirty="0"/>
          </a:p>
        </p:txBody>
      </p:sp>
      <p:sp>
        <p:nvSpPr>
          <p:cNvPr id="20" name="Text 11"/>
          <p:cNvSpPr txBox="1"/>
          <p:nvPr/>
        </p:nvSpPr>
        <p:spPr>
          <a:xfrm>
            <a:off x="828654" y="3319528"/>
            <a:ext cx="4337966" cy="42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Hossain, N. Maharjan, M. Hasan, R. Abdelfattah, M.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Ezz-Eldin, X. Wang, M. M. Fouda, K. Abdelfattah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828654" y="3869881"/>
            <a:ext cx="3559756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Internet of Things Journal · 2026</a:t>
            </a:r>
            <a:endParaRPr lang="en-US" sz="1350" dirty="0"/>
          </a:p>
        </p:txBody>
      </p:sp>
      <p:sp>
        <p:nvSpPr>
          <p:cNvPr id="22" name="Text 13"/>
          <p:cNvSpPr txBox="1"/>
          <p:nvPr/>
        </p:nvSpPr>
        <p:spPr>
          <a:xfrm>
            <a:off x="6448264" y="1814616"/>
            <a:ext cx="4480361" cy="81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Ranking, Different Winner: How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Scoring Targets Shape LLM Memory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Benchmarks</a:t>
            </a:r>
            <a:endParaRPr lang="en-US" sz="1800" dirty="0"/>
          </a:p>
        </p:txBody>
      </p:sp>
      <p:sp>
        <p:nvSpPr>
          <p:cNvPr id="23" name="Text 14"/>
          <p:cNvSpPr txBox="1"/>
          <p:nvPr/>
        </p:nvSpPr>
        <p:spPr>
          <a:xfrm>
            <a:off x="6448264" y="2748043"/>
            <a:ext cx="201548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Panthi, R. Abdelfattah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6448264" y="3047031"/>
            <a:ext cx="3004722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of EMNLP 2026 · 2026</a:t>
            </a:r>
            <a:endParaRPr lang="en-US" sz="1350" dirty="0"/>
          </a:p>
        </p:txBody>
      </p:sp>
      <p:sp>
        <p:nvSpPr>
          <p:cNvPr id="25" name="Text 16"/>
          <p:cNvSpPr txBox="1"/>
          <p:nvPr/>
        </p:nvSpPr>
        <p:spPr>
          <a:xfrm>
            <a:off x="828654" y="4324093"/>
            <a:ext cx="5748055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 Splatting for Real-Time Scene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Reconstruction: Methods, Systems, and Trade-offs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828654" y="4971777"/>
            <a:ext cx="282501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Dahal, R. Abdelfattah, N. Rahimi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828654" y="5270765"/>
            <a:ext cx="4636619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Recognition (under major revision) · 2026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6448264" y="4324093"/>
            <a:ext cx="4365521" cy="81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Bayesian Optimization-Aided Hybrid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Model for Lightweight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UAV-Based Smoke Detection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6448264" y="5257520"/>
            <a:ext cx="3963665" cy="42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Abdelfattah, K. Abdelfatah, M. M. Fouda, Z. M.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Fadlullah, M. Abouyoussef, M. I. Ibrahem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6448264" y="5807872"/>
            <a:ext cx="3555819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Internet of Things Journal · 2025</a:t>
            </a:r>
            <a:endParaRPr lang="en-US" sz="1350" dirty="0"/>
          </a:p>
        </p:txBody>
      </p:sp>
      <p:sp>
        <p:nvSpPr>
          <p:cNvPr id="31" name="Text 22"/>
          <p:cNvSpPr txBox="1"/>
          <p:nvPr/>
        </p:nvSpPr>
        <p:spPr>
          <a:xfrm>
            <a:off x="619110" y="6333520"/>
            <a:ext cx="365183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list: aimsresearchlab.com/publications/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1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2575704"/>
            <a:ext cx="6686383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3" name="Shape 1"/>
          <p:cNvSpPr/>
          <p:nvPr/>
        </p:nvSpPr>
        <p:spPr>
          <a:xfrm>
            <a:off x="619110" y="3371915"/>
            <a:ext cx="6686383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4" name="Shape 2"/>
          <p:cNvSpPr/>
          <p:nvPr/>
        </p:nvSpPr>
        <p:spPr>
          <a:xfrm>
            <a:off x="619110" y="4168125"/>
            <a:ext cx="6686383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5" name="Shape 3"/>
          <p:cNvSpPr/>
          <p:nvPr/>
        </p:nvSpPr>
        <p:spPr>
          <a:xfrm>
            <a:off x="619110" y="4964336"/>
            <a:ext cx="6686383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6" name="Shape 4"/>
          <p:cNvSpPr/>
          <p:nvPr/>
        </p:nvSpPr>
        <p:spPr>
          <a:xfrm>
            <a:off x="619110" y="5760546"/>
            <a:ext cx="6686383" cy="9525"/>
          </a:xfrm>
          <a:prstGeom prst="rect">
            <a:avLst/>
          </a:prstGeom>
          <a:solidFill>
            <a:srgbClr val="1B3379"/>
          </a:solidFill>
          <a:ln/>
        </p:spPr>
      </p:sp>
      <p:sp>
        <p:nvSpPr>
          <p:cNvPr id="7" name="Shape 5"/>
          <p:cNvSpPr/>
          <p:nvPr/>
        </p:nvSpPr>
        <p:spPr>
          <a:xfrm>
            <a:off x="7762681" y="807372"/>
            <a:ext cx="3809905" cy="5243084"/>
          </a:xfrm>
          <a:prstGeom prst="rect">
            <a:avLst/>
          </a:prstGeom>
          <a:solidFill>
            <a:srgbClr val="0A2596"/>
          </a:solidFill>
          <a:ln w="9525">
            <a:solidFill>
              <a:srgbClr val="1B33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05632" y="3793088"/>
            <a:ext cx="1924002" cy="1924002"/>
          </a:xfrm>
          <a:prstGeom prst="rect">
            <a:avLst/>
          </a:prstGeom>
          <a:solidFill>
            <a:srgbClr val="FFFFFF"/>
          </a:solidFill>
          <a:ln w="9525">
            <a:solidFill>
              <a:srgbClr val="1B337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48" y="1162616"/>
            <a:ext cx="228594" cy="228594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048" y="1530213"/>
            <a:ext cx="228594" cy="22859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048" y="1897809"/>
            <a:ext cx="228594" cy="22859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048" y="2723040"/>
            <a:ext cx="514337" cy="514337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8504" y="3935959"/>
            <a:ext cx="1638259" cy="163825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7613" y="4555069"/>
            <a:ext cx="400040" cy="400040"/>
          </a:xfrm>
          <a:prstGeom prst="ellipse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619110" y="845471"/>
            <a:ext cx="76850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425" dirty="0"/>
          </a:p>
        </p:txBody>
      </p:sp>
      <p:sp>
        <p:nvSpPr>
          <p:cNvPr id="16" name="Text 8"/>
          <p:cNvSpPr txBox="1"/>
          <p:nvPr/>
        </p:nvSpPr>
        <p:spPr>
          <a:xfrm>
            <a:off x="619110" y="1182112"/>
            <a:ext cx="2455337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Recently</a:t>
            </a:r>
            <a:endParaRPr lang="en-US" sz="4350" dirty="0"/>
          </a:p>
        </p:txBody>
      </p:sp>
      <p:sp>
        <p:nvSpPr>
          <p:cNvPr id="17" name="Text 9"/>
          <p:cNvSpPr txBox="1"/>
          <p:nvPr/>
        </p:nvSpPr>
        <p:spPr>
          <a:xfrm>
            <a:off x="619110" y="2197690"/>
            <a:ext cx="1251995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10, 2026</a:t>
            </a:r>
            <a:endParaRPr lang="en-US" sz="1350" dirty="0"/>
          </a:p>
        </p:txBody>
      </p:sp>
      <p:sp>
        <p:nvSpPr>
          <p:cNvPr id="18" name="Text 10"/>
          <p:cNvSpPr txBox="1"/>
          <p:nvPr/>
        </p:nvSpPr>
        <p:spPr>
          <a:xfrm>
            <a:off x="2085923" y="2169116"/>
            <a:ext cx="4313149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website launched at aimsresearchlab.com</a:t>
            </a:r>
            <a:endParaRPr lang="en-US" sz="1575" dirty="0"/>
          </a:p>
        </p:txBody>
      </p:sp>
      <p:sp>
        <p:nvSpPr>
          <p:cNvPr id="19" name="Text 11"/>
          <p:cNvSpPr txBox="1"/>
          <p:nvPr/>
        </p:nvSpPr>
        <p:spPr>
          <a:xfrm>
            <a:off x="619110" y="2756674"/>
            <a:ext cx="1284000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20, 2026</a:t>
            </a:r>
            <a:endParaRPr lang="en-US" sz="1350" dirty="0"/>
          </a:p>
        </p:txBody>
      </p:sp>
      <p:sp>
        <p:nvSpPr>
          <p:cNvPr id="20" name="Text 12"/>
          <p:cNvSpPr txBox="1"/>
          <p:nvPr/>
        </p:nvSpPr>
        <p:spPr>
          <a:xfrm>
            <a:off x="2085923" y="2728100"/>
            <a:ext cx="5525220" cy="48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"Same Ranking, Different Winner" accepted to Findings of</a:t>
            </a:r>
            <a:endParaRPr lang="en-US" sz="1575" dirty="0"/>
          </a:p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EMNLP 2026</a:t>
            </a:r>
            <a:endParaRPr lang="en-US" sz="1575" dirty="0"/>
          </a:p>
        </p:txBody>
      </p:sp>
      <p:sp>
        <p:nvSpPr>
          <p:cNvPr id="21" name="Text 13"/>
          <p:cNvSpPr txBox="1"/>
          <p:nvPr/>
        </p:nvSpPr>
        <p:spPr>
          <a:xfrm>
            <a:off x="619110" y="3552885"/>
            <a:ext cx="1257985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19, 2026</a:t>
            </a:r>
            <a:endParaRPr lang="en-US" sz="1350" dirty="0"/>
          </a:p>
        </p:txBody>
      </p:sp>
      <p:sp>
        <p:nvSpPr>
          <p:cNvPr id="22" name="Text 14"/>
          <p:cNvSpPr txBox="1"/>
          <p:nvPr/>
        </p:nvSpPr>
        <p:spPr>
          <a:xfrm>
            <a:off x="2085923" y="3524311"/>
            <a:ext cx="5776808" cy="48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preprint: "Outcome Monitors: Recovery Affordances for</a:t>
            </a:r>
            <a:endParaRPr lang="en-US" sz="1575" dirty="0"/>
          </a:p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Silent Tool Failures"</a:t>
            </a:r>
            <a:endParaRPr lang="en-US" sz="1575" dirty="0"/>
          </a:p>
        </p:txBody>
      </p:sp>
      <p:sp>
        <p:nvSpPr>
          <p:cNvPr id="23" name="Text 15"/>
          <p:cNvSpPr txBox="1"/>
          <p:nvPr/>
        </p:nvSpPr>
        <p:spPr>
          <a:xfrm>
            <a:off x="619110" y="4349096"/>
            <a:ext cx="123094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19, 2026</a:t>
            </a:r>
            <a:endParaRPr lang="en-US" sz="1350" dirty="0"/>
          </a:p>
        </p:txBody>
      </p:sp>
      <p:sp>
        <p:nvSpPr>
          <p:cNvPr id="24" name="Text 16"/>
          <p:cNvSpPr txBox="1"/>
          <p:nvPr/>
        </p:nvSpPr>
        <p:spPr>
          <a:xfrm>
            <a:off x="2085923" y="4320521"/>
            <a:ext cx="5781942" cy="48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preprint: "Fixed RAG Compression Collapses Measured</a:t>
            </a:r>
            <a:endParaRPr lang="en-US" sz="1575" dirty="0"/>
          </a:p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Reader Scaling"</a:t>
            </a:r>
            <a:endParaRPr lang="en-US" sz="1575" dirty="0"/>
          </a:p>
        </p:txBody>
      </p:sp>
      <p:sp>
        <p:nvSpPr>
          <p:cNvPr id="25" name="Text 17"/>
          <p:cNvSpPr txBox="1"/>
          <p:nvPr/>
        </p:nvSpPr>
        <p:spPr>
          <a:xfrm>
            <a:off x="619110" y="5145306"/>
            <a:ext cx="125182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18, 2026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2085923" y="5116732"/>
            <a:ext cx="5988518" cy="48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preprint: "Does It Matter Which Gaussians You Pick in 4D</a:t>
            </a:r>
            <a:endParaRPr lang="en-US" sz="1575" dirty="0"/>
          </a:p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F3F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 Streaming?"</a:t>
            </a:r>
            <a:endParaRPr lang="en-US" sz="1575" dirty="0"/>
          </a:p>
        </p:txBody>
      </p:sp>
      <p:sp>
        <p:nvSpPr>
          <p:cNvPr id="27" name="Text 19"/>
          <p:cNvSpPr txBox="1"/>
          <p:nvPr/>
        </p:nvSpPr>
        <p:spPr>
          <a:xfrm>
            <a:off x="8438939" y="1150264"/>
            <a:ext cx="243445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7F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aimsresearchlab.com</a:t>
            </a:r>
            <a:endParaRPr lang="en-US" sz="1650" dirty="0"/>
          </a:p>
        </p:txBody>
      </p:sp>
      <p:sp>
        <p:nvSpPr>
          <p:cNvPr id="28" name="Text 20"/>
          <p:cNvSpPr txBox="1"/>
          <p:nvPr/>
        </p:nvSpPr>
        <p:spPr>
          <a:xfrm>
            <a:off x="8438939" y="1517860"/>
            <a:ext cx="3031079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github.com/aimsresearchlab</a:t>
            </a:r>
            <a:endParaRPr lang="en-US" sz="1650" dirty="0"/>
          </a:p>
        </p:txBody>
      </p:sp>
      <p:sp>
        <p:nvSpPr>
          <p:cNvPr id="29" name="Text 21"/>
          <p:cNvSpPr txBox="1"/>
          <p:nvPr/>
        </p:nvSpPr>
        <p:spPr>
          <a:xfrm>
            <a:off x="8438939" y="1885456"/>
            <a:ext cx="2872425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A9B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 340 · Hattiesburg, MS</a:t>
            </a:r>
            <a:endParaRPr lang="en-US" sz="1650" dirty="0"/>
          </a:p>
        </p:txBody>
      </p:sp>
      <p:sp>
        <p:nvSpPr>
          <p:cNvPr id="30" name="Text 22"/>
          <p:cNvSpPr txBox="1"/>
          <p:nvPr/>
        </p:nvSpPr>
        <p:spPr>
          <a:xfrm>
            <a:off x="8781830" y="2386399"/>
            <a:ext cx="1666516" cy="54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b="1" spc="150" kern="0" dirty="0">
                <a:solidFill>
                  <a:srgbClr val="7FA6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3900" dirty="0"/>
          </a:p>
        </p:txBody>
      </p:sp>
      <p:sp>
        <p:nvSpPr>
          <p:cNvPr id="31" name="Text 23"/>
          <p:cNvSpPr txBox="1"/>
          <p:nvPr/>
        </p:nvSpPr>
        <p:spPr>
          <a:xfrm>
            <a:off x="8781830" y="2995984"/>
            <a:ext cx="2102430" cy="498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&amp;</a:t>
            </a:r>
            <a:endParaRPr lang="en-US" sz="1425" dirty="0"/>
          </a:p>
          <a:p>
            <a:pPr algn="l" indent="0" marL="0">
              <a:lnSpc>
                <a:spcPts val="2351"/>
              </a:lnSpc>
              <a:buNone/>
            </a:pPr>
            <a:r>
              <a:rPr lang="en-US" sz="1425" dirty="0">
                <a:solidFill>
                  <a:srgbClr val="A9B7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Systems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University of Southern Mississippi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AIMS Lab overview</dc:title>
  <dc:subject>PptxGenJS Presentation</dc:subject>
  <dc:creator>AIMS Lab, University of Southern Mississippi</dc:creator>
  <cp:lastModifiedBy>AIMS Lab, University of Southern Mississippi</cp:lastModifiedBy>
  <cp:revision>1</cp:revision>
  <dcterms:created xsi:type="dcterms:W3CDTF">2026-09-19T03:27:51Z</dcterms:created>
  <dcterms:modified xsi:type="dcterms:W3CDTF">2026-09-19T03:27:51Z</dcterms:modified>
</cp:coreProperties>
</file>